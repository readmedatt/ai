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395" r:id="rId2"/>
    <p:sldId id="591" r:id="rId3"/>
    <p:sldId id="593" r:id="rId4"/>
    <p:sldId id="595" r:id="rId5"/>
    <p:sldId id="596" r:id="rId6"/>
    <p:sldId id="597" r:id="rId7"/>
    <p:sldId id="598" r:id="rId8"/>
    <p:sldId id="599" r:id="rId9"/>
    <p:sldId id="600" r:id="rId10"/>
    <p:sldId id="601" r:id="rId11"/>
    <p:sldId id="602" r:id="rId12"/>
    <p:sldId id="603" r:id="rId13"/>
    <p:sldId id="604" r:id="rId14"/>
    <p:sldId id="605" r:id="rId15"/>
    <p:sldId id="607" r:id="rId16"/>
    <p:sldId id="606" r:id="rId17"/>
    <p:sldId id="609" r:id="rId18"/>
    <p:sldId id="608" r:id="rId19"/>
    <p:sldId id="592" r:id="rId20"/>
    <p:sldId id="613" r:id="rId21"/>
    <p:sldId id="614" r:id="rId22"/>
    <p:sldId id="610" r:id="rId23"/>
    <p:sldId id="611" r:id="rId24"/>
    <p:sldId id="612" r:id="rId25"/>
    <p:sldId id="58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C3250-EE2F-489E-970D-AD8C57589867}" v="326" dt="2025-07-30T11:46:57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2:5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1892 5298,'0'0'9893,"-11"0"-8847,-49 2 3070,84-2-3379,-5-2-601,0-1 1,0 0 0,-1-2-1,1 0 1,-1-1-1,0-1 1,24-14 0,25-7 21,61-25 158,-3-6 1,204-128 0,-22 16-241,-159 93-43,487-256 28,-616 325-66,155-79-21,129-68 25,515-273 12,-626 318 38,-131 72-28,117-54 0,-162 87 84,-16 7-335,-25 13-2745,20-12 2065,-22 10-6061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2:5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15 9268,'0'0'8364,"-11"-15"-6926,14 21-1293,-1-1-1,1 1 1,0-1-1,0 0 1,1 0-1,0 0 1,0 0-1,0-1 1,0 0-1,0 0 0,8 5 1,2 5 13,96 100 302,153 207 0,-257-314-487,-2 2 148,-21-8 1,3-1-100,0-1 1,0 0-1,1-1 1,-1-1-1,1 0 0,-1-1 1,-13-6-1,-6-5 197,-47-30-1,58 30 320,31 19-94,42 21-150,-43-21-406,4 3 120,0-1 1,0 0-1,1-1 1,0 0-1,0-1 1,1 0-1,-1-2 1,1 1-1,21 0 1,-33-4-10,0 1 0,0-1-1,0 0 1,0 0 0,-1 0 0,1 0-1,0 0 1,0-1 0,-1 1 0,1 0 0,0-1-1,-1 1 1,1-1 0,-1 0 0,0 1 0,0-1-1,0 0 1,0 0 0,0 0 0,0 0 0,0 0-1,0 0 1,-1 0 0,1 0 0,0-3-1,12-58-6,-11 32 96,-2 0 0,-5-51 0,0-12-2425,5 91 1877,0 1-1,1-1 1,-1 1 0,0-1 0,1 1-1,0 0 1,-1-1 0,1 1-1,0 0 1,0 0 0,0 0 0,1 0-1,-1 0 1,0 0 0,1 0-1,1-2 1,15-16-10556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2:55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11797,'0'0'8631,"-5"-3"-8442,5 3-188,-1-1 0,1 1-1,-1-1 1,1 1-1,0-1 1,-1 1-1,1-1 1,-1 1-1,1 0 1,-1-1-1,0 1 1,1 0 0,-1-1-1,1 1 1,-1 0-1,1 0 1,-1 0-1,0 0 1,1-1-1,-1 1 1,0 0-1,1 0 1,-1 0 0,1 0-1,-1 0 1,0 1-1,1-1 1,-1 0-1,0 0 1,1 0-1,-1 0 1,1 1-1,-1-1 1,1 0 0,-1 1-1,0 0 1,7 25 104,40 54 284,-37-66-261,115 211 820,-48-84-812,-70-126 36,-9-12-35,-22-18 69,-36-40 196,60 54-372,-17-16 242,0 0 0,2-1 0,0 0 0,-22-35 0,46 74-207,5 7-63,0-11-2,1 0 0,1-1 1,22 18-1,-32-30-2,-1 0 0,1 0 0,0-1 0,0 0 1,0 0-1,1 0 0,-1-1 0,1 0 0,-1 0 1,1 0-1,0-1 0,0 1 0,0-1 0,0-1 0,-1 1 1,1-1-1,8-1 0,-12 0 3,1 0 1,-1-1-1,1 1 0,-1-1 1,0 1-1,1-1 0,-1 0 1,0 0-1,0 0 1,-1 0-1,1-1 0,0 1 1,-1 0-1,1-1 0,-1 1 1,0-1-1,1 1 0,-1-1 1,-1 0-1,1 1 1,0-1-1,-1 0 0,1-3 1,9-69 26,-10-142-6380,0 198 2091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2:5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90 7363,'0'0'10104,"-2"-9"-8418,-7-27-376,20 64-627,2-1 0,1 0 0,1 0 0,35 46 0,-13-18-361,24 41 52,132 191 328,-173-263-683,-12-16 15,-1 2 1,0-1-1,10 19 1,-47-81 478,-71-94-1,40 63-475,7 5-58,-4 2 1,-103-107-1,154 176 24,6 6-3,-1 0 0,1 1 1,-1-1-1,0 0 0,0 0 0,0 1 0,0-1 0,0 1 0,0-1 1,0 1-1,0 0 0,0 0 0,-1 0 0,1 0 0,-1 1 0,1-1 1,-5 0-1,5 5-17,0 1 0,1-1 0,-1 1 0,1 0 0,1-1 1,-1 1-1,0 6 0,0-6 16,-7 38 12,4-23-11,0 1-1,-1 31 1,5-52-13,1-3 16,0-1 1,-1 0-1,1 0 1,-1 0-1,0 0 1,0 0-1,0 0 0,-2-5 1,1-5-6,1-16 1,-1 8 19,1 0 0,4-28 0,-3 45-21,0-1 0,0 1 0,1-1 0,0 1 0,0-1 0,0 1 0,0 0 0,1 0 0,0 0 0,0 0 0,0 0 0,1 1 0,6-8 0,-6 10-3,0 0 0,0 0 1,0 0-1,0 1 0,1 0 0,-1-1 0,0 1 1,1 1-1,-1-1 0,1 1 0,-1-1 0,1 1 1,5 1-1,0-1-33,-1 1 0,0 0 0,0 1 0,1 0 0,12 5 0,-6 0-1001,0 2 0,29 20 0,3 7-3857,-33-24 2611,13 9-4776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3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71 4466,'0'0'14649,"-1"-5"-13272,-2-15-286,2 14 827,2 11-1864,0-1-1,1-1 0,-1 1 1,1 0-1,0 0 0,0-1 0,0 1 1,1-1-1,-1 1 0,1-1 0,0 0 1,0 0-1,5 4 0,12 14 178,19 44 6,-3 0 0,-2 3 0,26 76 0,-48-114-163,1-6 2,-13-24-72,0 1 0,0-1 0,0 0 1,0 0-1,0 0 0,0 0 0,0 1 0,0-1 1,0 0-1,1 0 0,-1 0 0,0 0 1,0 0-1,0 0 0,0 1 0,0-1 0,0 0 1,0 0-1,0 0 0,1 0 0,-1 0 0,0 0 1,0 0-1,0 0 0,0 0 0,0 1 1,1-1-1,-1 0 0,0 0 0,0 0 0,0 0 1,0 0-1,0 0 0,1 0 0,-1 0 1,0 0-1,0 0 0,0 0 0,0 0 0,1 0 1,-1 0-1,0 0 0,0-1 0,0 1 1,0 0-1,0 0 0,1 0 0,-1 0 0,0 0 1,0 0-1,0 0 0,0 0 0,0 0 0,0-1 1,1 1-1,-1-3 16,-1 0 1,1 0 0,0 0-1,-1 0 1,0 0-1,1 0 1,-1 1-1,0-1 1,-1 0-1,1 0 1,0 1-1,-3-4 1,-128-184 32,32 53-61,90 120-2,7 12 12,0-1 0,0 1 0,-1 0 0,1 0 0,-1 0 0,0 1 0,-1-1 0,1 1 1,-6-4-1,10 8-5,-1 0 0,1 0 0,-1 0 0,1 0 0,-1-1 0,1 1 0,-1 0 0,0 0 0,1 0 0,-1 0 0,1 1 0,-1-1 0,1 0 0,-1 0 0,1 0 0,-1 0 0,1 0 0,0 1 0,-1-1 0,1 0 0,-1 0 0,1 1 0,-1-1 0,1 0 0,0 1 0,-1-1 0,1 0 0,0 1 0,-1-1 0,1 1 0,0-1 0,-1 1 0,1-1 0,0 0 0,0 1 0,0-1 0,-1 1 0,1-1 0,0 1 0,0-1 0,0 1 0,0-1 0,0 2 0,-5 24 20,5-22-25,-6 68 21,1-200 35,5 125-48,1 0 0,-1 1 0,1-1 0,0 0-1,0 1 1,0-1 0,0 1 0,0-1 0,0 1-1,1 0 1,-1 0 0,1-1 0,0 1 0,0 0-1,-1 0 1,1 1 0,0-1 0,1 0 0,-1 1 0,0-1-1,0 1 1,1-1 0,-1 1 0,1 0 0,-1 0-1,1 0 1,-1 1 0,1-1 0,0 1 0,4-1 0,12-2-131,0 1 0,0 0 0,23 2 0,-29 0-167,-5 1-437,1-1 0,-1 1 0,1 1 0,-1 0 0,0 0 0,0 1 0,0 0 0,0 0 0,10 6 0,14 5-6868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7:1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7684,'0'0'1616,"29"-66"-7058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7:20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13942,'0'0'9482,"-11"3"-8908,1 0-528,-20 5 435,30-8-476,0 0 0,0 0 0,1 0 0,-1 0 1,0 0-1,0 0 0,0 0 0,0 0 0,0 0 0,0 0 0,0 0 0,0 0 0,0 0 0,0 1 1,0-1-1,0 0 0,0 0 0,0 0 0,1 0 0,-1 0 0,0 0 0,0 0 0,0 0 0,0 0 1,0 0-1,0 0 0,0 0 0,0 0 0,0 1 0,0-1 0,0 0 0,0 0 0,0 0 0,0 0 1,0 0-1,0 0 0,0 0 0,0 0 0,0 0 0,0 0 0,0 0 0,0 1 0,0-1 0,0 0 1,0 0-1,0 0 0,-1 0 0,1 0 0,0 0 0,0 0 0,0 0 0,0 0 0,0 0 0,0 0 1,0 0-1,0 0 0,0 0 0,23 2 231,164-4 311,189 4-345,-274 3-250,166 30 0,-256-33-12,-1 1-1,0 0 0,17 8 1,-27-11-236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18:5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1 342 4082,'0'0'17944,"1"6"-17797,3 6-81,0-1 0,1 1 0,1-1 0,-1 0 1,2 0-1,14 19 0,-20-28-44,1 0 0,0 0-1,0-1 1,0 1 0,0 0 0,0-1 0,0 0-1,0 1 1,0-1 0,1 0 0,-1 0 0,0 0-1,1-1 1,-1 1 0,1 0 0,-1-1 0,3 1-1,-1-2 5,-1 1 0,0-1 0,0 0-1,0 0 1,0 0 0,0 0-1,0 0 1,-1-1 0,1 1-1,0-1 1,-1 0 0,1 0-1,-1 0 1,1 0 0,-1 0-1,0 0 1,3-4 0,162-191 475,-15 17-4716,-101 120-771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22:0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9204,'0'0'8508,"22"-14"-6635,-19 11-2057,-1 0 1,1 1-1,0-1 1,0 1-1,0 0 1,0 0-1,0 0 1,6-3-1,-1 1-1448,12-6-4857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0T11:22:0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9524,'0'0'4226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75701-B17A-4AA0-909E-FBEBBC4DE68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800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9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3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Linear Regression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supervised learning algorithm used for predicting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target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 functional relationship between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one or more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variables/features 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To test the strength of the relationship between amount of ice-cream eaten (independent variable) and obesity (dependent variable).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regression equation is often used to predict a value of Y for a given value of 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04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and Independent variable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variables/features are regarded as inputs to a system and may take on different values freely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variables are those values that change as a result of changes in other values in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known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predictor/explanatory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variable, denoted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also known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response/target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variable, denoted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42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linear relationship between input variables and a single output variable (y).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y = mx + c - Equation, Formula, Examples | Graph of y=mx+c">
            <a:extLst>
              <a:ext uri="{FF2B5EF4-FFF2-40B4-BE49-F238E27FC236}">
                <a16:creationId xmlns:a16="http://schemas.microsoft.com/office/drawing/2014/main" id="{0B7501EB-9B8B-1F43-B280-F1F29C899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t="14740" r="10297" b="8714"/>
          <a:stretch/>
        </p:blipFill>
        <p:spPr bwMode="auto">
          <a:xfrm>
            <a:off x="3462727" y="2567722"/>
            <a:ext cx="4991725" cy="374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BAFA03-3862-AA92-2365-76BF8A47DE8D}"/>
              </a:ext>
            </a:extLst>
          </p:cNvPr>
          <p:cNvSpPr txBox="1"/>
          <p:nvPr/>
        </p:nvSpPr>
        <p:spPr>
          <a:xfrm>
            <a:off x="842305" y="3867462"/>
            <a:ext cx="2845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of straight line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EACF910-633C-AE8B-0642-C71E5B84C041}"/>
                  </a:ext>
                </a:extLst>
              </p14:cNvPr>
              <p14:cNvContentPartPr/>
              <p14:nvPr/>
            </p14:nvContentPartPr>
            <p14:xfrm>
              <a:off x="5404603" y="3651008"/>
              <a:ext cx="1331280" cy="682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EACF910-633C-AE8B-0642-C71E5B84C0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5963" y="3642368"/>
                <a:ext cx="1348920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39F76D6-5DCC-CD24-131E-897F8204AFE4}"/>
                  </a:ext>
                </a:extLst>
              </p14:cNvPr>
              <p14:cNvContentPartPr/>
              <p14:nvPr/>
            </p14:nvContentPartPr>
            <p14:xfrm>
              <a:off x="5185723" y="3774848"/>
              <a:ext cx="168120" cy="190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39F76D6-5DCC-CD24-131E-897F8204AF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76723" y="3765848"/>
                <a:ext cx="1857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FED832-E34E-9A8D-7B76-1D5566960974}"/>
                  </a:ext>
                </a:extLst>
              </p14:cNvPr>
              <p14:cNvContentPartPr/>
              <p14:nvPr/>
            </p14:nvContentPartPr>
            <p14:xfrm>
              <a:off x="5918323" y="3413408"/>
              <a:ext cx="118080" cy="183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FED832-E34E-9A8D-7B76-1D55669609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9683" y="3404408"/>
                <a:ext cx="1357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91F783-8135-9CCE-7DBA-385AF0289E46}"/>
                  </a:ext>
                </a:extLst>
              </p14:cNvPr>
              <p14:cNvContentPartPr/>
              <p14:nvPr/>
            </p14:nvContentPartPr>
            <p14:xfrm>
              <a:off x="5971243" y="4073648"/>
              <a:ext cx="196920" cy="267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91F783-8135-9CCE-7DBA-385AF0289E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2243" y="4064648"/>
                <a:ext cx="2145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0D17564-0F72-D4C2-BF4A-7D9EDF592976}"/>
                  </a:ext>
                </a:extLst>
              </p14:cNvPr>
              <p14:cNvContentPartPr/>
              <p14:nvPr/>
            </p14:nvContentPartPr>
            <p14:xfrm>
              <a:off x="6488923" y="3826328"/>
              <a:ext cx="119160" cy="185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0D17564-0F72-D4C2-BF4A-7D9EDF5929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80283" y="3817328"/>
                <a:ext cx="136800" cy="2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78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76300" y="1263243"/>
            <a:ext cx="10775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input variable (x)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4E186B-0053-1ADA-9448-E99069A759EF}"/>
              </a:ext>
            </a:extLst>
          </p:cNvPr>
          <p:cNvSpPr txBox="1"/>
          <p:nvPr/>
        </p:nvSpPr>
        <p:spPr>
          <a:xfrm>
            <a:off x="1007197" y="3429000"/>
            <a:ext cx="96508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Dependent variable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independent variable</a:t>
            </a:r>
          </a:p>
          <a:p>
            <a:r>
              <a:rPr lang="el-GR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400" b="1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y intercept</a:t>
            </a:r>
          </a:p>
          <a:p>
            <a:r>
              <a:rPr lang="el-GR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400" b="1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slope of line</a:t>
            </a:r>
          </a:p>
          <a:p>
            <a:r>
              <a:rPr lang="el-GR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error variable</a:t>
            </a:r>
            <a:endParaRPr lang="en-US" sz="24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 descr="Polynomial Linear Regression: A Comprehensive Guide | by Darshan S Aher |  Medium">
            <a:extLst>
              <a:ext uri="{FF2B5EF4-FFF2-40B4-BE49-F238E27FC236}">
                <a16:creationId xmlns:a16="http://schemas.microsoft.com/office/drawing/2014/main" id="{5AB04AA3-C013-8EAC-2039-79F8E810A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22"/>
          <a:stretch/>
        </p:blipFill>
        <p:spPr bwMode="auto">
          <a:xfrm>
            <a:off x="7924886" y="2181069"/>
            <a:ext cx="2733121" cy="272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03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1B0A84-744C-23F6-4528-9945FC0EFECC}"/>
              </a:ext>
            </a:extLst>
          </p:cNvPr>
          <p:cNvSpPr/>
          <p:nvPr/>
        </p:nvSpPr>
        <p:spPr>
          <a:xfrm>
            <a:off x="1007197" y="2249785"/>
            <a:ext cx="5588832" cy="7045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…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8DCF59-2D3F-A81C-CBA3-6B10A9A86DE5}"/>
              </a:ext>
            </a:extLst>
          </p:cNvPr>
          <p:cNvSpPr txBox="1"/>
          <p:nvPr/>
        </p:nvSpPr>
        <p:spPr>
          <a:xfrm>
            <a:off x="1007197" y="1300312"/>
            <a:ext cx="62930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input variables (x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57D1B-7F8A-9A8B-D14E-A8A739CD19A9}"/>
              </a:ext>
            </a:extLst>
          </p:cNvPr>
          <p:cNvSpPr txBox="1"/>
          <p:nvPr/>
        </p:nvSpPr>
        <p:spPr>
          <a:xfrm>
            <a:off x="994707" y="4267995"/>
            <a:ext cx="7744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Linear Regression: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polynomial terms (x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etc.). In below equation, n is the degree of polynomial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009DD6-B443-C5DB-F60A-21FC1529A21C}"/>
              </a:ext>
            </a:extLst>
          </p:cNvPr>
          <p:cNvSpPr/>
          <p:nvPr/>
        </p:nvSpPr>
        <p:spPr>
          <a:xfrm>
            <a:off x="1007197" y="5243435"/>
            <a:ext cx="6449159" cy="7045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…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Polynomial Linear Regression: A Comprehensive Guide | by Darshan S Aher |  Medium">
            <a:extLst>
              <a:ext uri="{FF2B5EF4-FFF2-40B4-BE49-F238E27FC236}">
                <a16:creationId xmlns:a16="http://schemas.microsoft.com/office/drawing/2014/main" id="{80DDF492-098F-EB7B-7E26-A66FD8A45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40"/>
          <a:stretch/>
        </p:blipFill>
        <p:spPr bwMode="auto">
          <a:xfrm>
            <a:off x="8891986" y="4186962"/>
            <a:ext cx="2617322" cy="246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derstanding Simple Linear Regression vs Multiple Linear Regression: A  Guide with Examples | by Bhagyesh Joshi | Medium">
            <a:extLst>
              <a:ext uri="{FF2B5EF4-FFF2-40B4-BE49-F238E27FC236}">
                <a16:creationId xmlns:a16="http://schemas.microsoft.com/office/drawing/2014/main" id="{BCA46BE0-3C05-716C-D675-114ECEF84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98" r="22572"/>
          <a:stretch/>
        </p:blipFill>
        <p:spPr bwMode="auto">
          <a:xfrm>
            <a:off x="8891986" y="204663"/>
            <a:ext cx="2938433" cy="358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9200CD-978C-E2F6-1CA1-7EF516E1897D}"/>
                  </a:ext>
                </a:extLst>
              </p14:cNvPr>
              <p14:cNvContentPartPr/>
              <p14:nvPr/>
            </p14:nvContentPartPr>
            <p14:xfrm>
              <a:off x="9983083" y="3221528"/>
              <a:ext cx="10800" cy="2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9200CD-978C-E2F6-1CA1-7EF516E189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74443" y="3212888"/>
                <a:ext cx="284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07BEA58-C8E9-7B1A-D1B3-5893CD9D989C}"/>
                  </a:ext>
                </a:extLst>
              </p14:cNvPr>
              <p14:cNvContentPartPr/>
              <p14:nvPr/>
            </p14:nvContentPartPr>
            <p14:xfrm>
              <a:off x="9894883" y="3867008"/>
              <a:ext cx="367560" cy="28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07BEA58-C8E9-7B1A-D1B3-5893CD9D98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85883" y="3858368"/>
                <a:ext cx="385200" cy="4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528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4445506-10DA-6C8E-B875-EB21FB0E8E0C}"/>
              </a:ext>
            </a:extLst>
          </p:cNvPr>
          <p:cNvSpPr txBox="1"/>
          <p:nvPr/>
        </p:nvSpPr>
        <p:spPr>
          <a:xfrm>
            <a:off x="1007197" y="1325563"/>
            <a:ext cx="8703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Regression: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variables is non-linear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E1BA5B-066B-4677-2290-A7CE14E52D1D}"/>
              </a:ext>
            </a:extLst>
          </p:cNvPr>
          <p:cNvSpPr/>
          <p:nvPr/>
        </p:nvSpPr>
        <p:spPr>
          <a:xfrm>
            <a:off x="3516954" y="2060977"/>
            <a:ext cx="5234291" cy="7045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(1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exp(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0" name="Picture 8" descr="Linear Regression Using Non-Linear Data: Understanding Ordinary Least  Squares (OLS) | by Nadeem | Medium">
            <a:extLst>
              <a:ext uri="{FF2B5EF4-FFF2-40B4-BE49-F238E27FC236}">
                <a16:creationId xmlns:a16="http://schemas.microsoft.com/office/drawing/2014/main" id="{1A6E8503-1601-E61F-B38C-39D893FE2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266" y="3232505"/>
            <a:ext cx="4671665" cy="346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4B8F28-29C4-817B-4659-5F543CC7866D}"/>
                  </a:ext>
                </a:extLst>
              </p14:cNvPr>
              <p14:cNvContentPartPr/>
              <p14:nvPr/>
            </p14:nvContentPartPr>
            <p14:xfrm>
              <a:off x="6452923" y="2581088"/>
              <a:ext cx="186120" cy="16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4B8F28-29C4-817B-4659-5F543CC786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4283" y="2572448"/>
                <a:ext cx="203760" cy="18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777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models a dependent variable,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function of some independent variables (aka "features"), 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 finding a line (or surface) that best "fits" the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redicting the price of a house using the number of rooms in that house (</a:t>
            </a:r>
            <a:r>
              <a:rPr lang="en-US" sz="2400" b="0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price, </a:t>
            </a:r>
            <a:r>
              <a:rPr lang="en-US" sz="2400" b="0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number of rooms) </a:t>
            </a:r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redicting weight from height and age (</a:t>
            </a:r>
            <a:r>
              <a:rPr lang="en-US" sz="2400" b="0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weight, </a:t>
            </a:r>
            <a:r>
              <a:rPr lang="en-US" sz="2400" b="0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height, </a:t>
            </a:r>
            <a:r>
              <a:rPr lang="en-US" sz="2400" b="0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age).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52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for linear regression: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722B7B-45D8-F737-2062-6EFF58819A4B}"/>
              </a:ext>
            </a:extLst>
          </p:cNvPr>
          <p:cNvSpPr/>
          <p:nvPr/>
        </p:nvSpPr>
        <p:spPr>
          <a:xfrm>
            <a:off x="3105641" y="1887694"/>
            <a:ext cx="5588832" cy="7045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…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FCB26-F3DF-4A0C-4391-0D8C0697F42E}"/>
              </a:ext>
            </a:extLst>
          </p:cNvPr>
          <p:cNvSpPr txBox="1"/>
          <p:nvPr/>
        </p:nvSpPr>
        <p:spPr>
          <a:xfrm>
            <a:off x="844805" y="2991967"/>
            <a:ext cx="10775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dependent variable</a:t>
            </a:r>
          </a:p>
          <a:p>
            <a:r>
              <a:rPr lang="en-US" sz="2400" i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input features</a:t>
            </a:r>
          </a:p>
          <a:p>
            <a:r>
              <a:rPr lang="el-GR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400" i="1" baseline="-25000" dirty="0" err="1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Coefficients/weights</a:t>
            </a:r>
          </a:p>
          <a:p>
            <a:r>
              <a:rPr lang="el-GR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error</a:t>
            </a:r>
            <a:endParaRPr lang="en-US" sz="2400" i="0" dirty="0">
              <a:solidFill>
                <a:srgbClr val="232F3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830007A-45E3-94D1-1107-EF9ADCB6EFE7}"/>
                  </a:ext>
                </a:extLst>
              </p14:cNvPr>
              <p14:cNvContentPartPr/>
              <p14:nvPr/>
            </p14:nvContentPartPr>
            <p14:xfrm>
              <a:off x="4165843" y="2645888"/>
              <a:ext cx="29880" cy="19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830007A-45E3-94D1-1107-EF9ADCB6EF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6843" y="2637248"/>
                <a:ext cx="475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1FD77A-1470-B5F5-BBEE-8BA362EF6342}"/>
                  </a:ext>
                </a:extLst>
              </p14:cNvPr>
              <p14:cNvContentPartPr/>
              <p14:nvPr/>
            </p14:nvContentPartPr>
            <p14:xfrm>
              <a:off x="4814923" y="2696288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1FD77A-1470-B5F5-BBEE-8BA362EF63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6283" y="268764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8333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Introduction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EA8935-B2D0-3E5F-8357-3E29E96704C1}"/>
                  </a:ext>
                </a:extLst>
              </p:cNvPr>
              <p:cNvSpPr txBox="1"/>
              <p:nvPr/>
            </p:nvSpPr>
            <p:spPr>
              <a:xfrm>
                <a:off x="876300" y="1453664"/>
                <a:ext cx="10515600" cy="2762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2400" b="1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Fitting a linear regression model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means </a:t>
                </a:r>
                <a:r>
                  <a:rPr lang="en-US" sz="2400" b="1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finding the set of coefficients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best model </a:t>
                </a:r>
                <a:r>
                  <a:rPr lang="en-US" sz="2400" b="0" i="1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as a function of our features </a:t>
                </a:r>
                <a:r>
                  <a:rPr lang="en-US" sz="2400" b="0" i="1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1" baseline="-2500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l" fontAlgn="base"/>
                <a:endParaRPr lang="en-US" sz="2400" dirty="0">
                  <a:solidFill>
                    <a:srgbClr val="232F3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may never know the true parameters for our model, but we can estimate them. Using estimated coefficients,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predict future values, </a:t>
                </a:r>
                <a:r>
                  <a:rPr lang="en-US" sz="18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kern="1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 as:</a:t>
                </a:r>
              </a:p>
              <a:p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EA8935-B2D0-3E5F-8357-3E29E9670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" y="1453664"/>
                <a:ext cx="10515600" cy="2762551"/>
              </a:xfrm>
              <a:prstGeom prst="rect">
                <a:avLst/>
              </a:prstGeom>
              <a:blipFill>
                <a:blip r:embed="rId3"/>
                <a:stretch>
                  <a:fillRect l="-928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9BE2E7A-CD69-318B-C09C-711CA44B4A0B}"/>
                  </a:ext>
                </a:extLst>
              </p:cNvPr>
              <p:cNvSpPr/>
              <p:nvPr/>
            </p:nvSpPr>
            <p:spPr>
              <a:xfrm>
                <a:off x="4215672" y="3660431"/>
                <a:ext cx="2756316" cy="7045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800" i="0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800" i="0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i="0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9BE2E7A-CD69-318B-C09C-711CA44B4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672" y="3660431"/>
                <a:ext cx="2756316" cy="704537"/>
              </a:xfrm>
              <a:prstGeom prst="roundRect">
                <a:avLst/>
              </a:prstGeom>
              <a:blipFill>
                <a:blip r:embed="rId4"/>
                <a:stretch>
                  <a:fillRect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845D9B1-899B-55E5-A6D1-4AEEC958CFBC}"/>
              </a:ext>
            </a:extLst>
          </p:cNvPr>
          <p:cNvSpPr txBox="1"/>
          <p:nvPr/>
        </p:nvSpPr>
        <p:spPr>
          <a:xfrm>
            <a:off x="1007196" y="4558246"/>
            <a:ext cx="101454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Goal: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to estimate </a:t>
            </a:r>
            <a:r>
              <a:rPr lang="el-GR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from a training data of &lt;x</a:t>
            </a:r>
            <a:r>
              <a:rPr lang="en-US" altLang="en-US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</a:t>
            </a:r>
            <a:r>
              <a:rPr lang="en-US" altLang="en-US" sz="2400" baseline="-25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&gt; pairs.</a:t>
            </a:r>
          </a:p>
          <a:p>
            <a:pPr algn="just">
              <a:spcBef>
                <a:spcPct val="50000"/>
              </a:spcBef>
            </a:pPr>
            <a: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Optimization goal: 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minimize squared error (</a:t>
            </a:r>
            <a: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least squares method or sum of squared error (SSE) method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06ACACD-7D5F-A652-89BC-479AE734681A}"/>
                  </a:ext>
                </a:extLst>
              </p:cNvPr>
              <p:cNvSpPr/>
              <p:nvPr/>
            </p:nvSpPr>
            <p:spPr>
              <a:xfrm>
                <a:off x="5528247" y="5649339"/>
                <a:ext cx="5588832" cy="101566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1"/>
                          </a:solidFill>
                        </a:rPr>
                        <m:t>arg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1"/>
                          </a:solidFill>
                        </a:rPr>
                        <m:t>min</m:t>
                      </m:r>
                      <m:r>
                        <m:rPr>
                          <m:nor/>
                        </m:rPr>
                        <a:rPr lang="el-GR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β</m:t>
                      </m:r>
                      <m:r>
                        <m:rPr>
                          <m:nor/>
                        </m:rPr>
                        <a:rPr lang="en-US" sz="2400" b="0" i="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baseline="-25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 +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en-US" sz="2400" i="1" baseline="-25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aseline="-25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aseline="30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800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06ACACD-7D5F-A652-89BC-479AE7346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247" y="5649339"/>
                <a:ext cx="5588832" cy="101566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028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1083D5-B7AF-045F-7EAB-FD1411E3B290}"/>
              </a:ext>
            </a:extLst>
          </p:cNvPr>
          <p:cNvSpPr txBox="1"/>
          <p:nvPr/>
        </p:nvSpPr>
        <p:spPr>
          <a:xfrm>
            <a:off x="201743" y="1009128"/>
            <a:ext cx="634895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Let’s say you have data points</a:t>
            </a:r>
          </a:p>
          <a:p>
            <a:pPr algn="ctr"/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((x</a:t>
            </a:r>
            <a:r>
              <a:rPr lang="en-US" sz="2400" b="0" i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sz="2400" b="0" i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(x</a:t>
            </a:r>
            <a:r>
              <a:rPr lang="en-US" sz="2400" b="0" i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sz="2400" b="0" i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(x</a:t>
            </a:r>
            <a:r>
              <a:rPr lang="en-US" sz="2400" b="0" i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sz="2400" b="0" i="0" baseline="-2500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…) </a:t>
            </a:r>
          </a:p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housing price prediction where x is size of house in square foot, and y is house price.</a:t>
            </a:r>
          </a:p>
          <a:p>
            <a:endParaRPr lang="en-US" sz="2400" b="0" i="0" dirty="0">
              <a:solidFill>
                <a:srgbClr val="232F3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fit a model to predict housing price: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house-price</a:t>
            </a:r>
            <a:r>
              <a:rPr lang="en-US" sz="2400" b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400" b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0​^ </a:t>
            </a:r>
            <a:r>
              <a:rPr lang="en-US" sz="2400" b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400" b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1​^​∗</a:t>
            </a:r>
            <a:r>
              <a:rPr lang="en-US" sz="2400" b="1" i="1" dirty="0" err="1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US" sz="2400" b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We'll start with a very simple model, predicting the price of each house to be just the average house price in our dataset, ~$290,000, ignoring the different sizes of each house: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house-price</a:t>
            </a:r>
            <a:r>
              <a:rPr lang="en-US" sz="2400" b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290000 + 0∗</a:t>
            </a:r>
            <a:r>
              <a:rPr lang="en-US" sz="2400" b="1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8F8A8C-4CBE-F873-6787-5EB3002F5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770" y="2580053"/>
            <a:ext cx="5746230" cy="27508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B03E6E-EA1C-451F-4077-B842B37F02F6}"/>
              </a:ext>
            </a:extLst>
          </p:cNvPr>
          <p:cNvSpPr txBox="1"/>
          <p:nvPr/>
        </p:nvSpPr>
        <p:spPr>
          <a:xfrm>
            <a:off x="6445770" y="6272107"/>
            <a:ext cx="554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Ref: https://mlu-explain.github.io/linear-regression/</a:t>
            </a:r>
          </a:p>
        </p:txBody>
      </p:sp>
    </p:spTree>
    <p:extLst>
      <p:ext uri="{BB962C8B-B14F-4D97-AF65-F5344CB8AC3E}">
        <p14:creationId xmlns:p14="http://schemas.microsoft.com/office/powerpoint/2010/main" val="886010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1083D5-B7AF-045F-7EAB-FD1411E3B290}"/>
              </a:ext>
            </a:extLst>
          </p:cNvPr>
          <p:cNvSpPr txBox="1"/>
          <p:nvPr/>
        </p:nvSpPr>
        <p:spPr>
          <a:xfrm>
            <a:off x="201743" y="1788616"/>
            <a:ext cx="63489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know this model is bad - the model doesn't fit the data well at all. But how can do quantify exactly </a:t>
            </a:r>
            <a:r>
              <a:rPr lang="en-US" sz="2400" b="0" i="1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bad?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point, t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evaluate our model's performance quantitatively, we plot the </a:t>
            </a:r>
            <a:r>
              <a:rPr lang="en-US" sz="2400" b="1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 or residual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each observation directly. </a:t>
            </a:r>
          </a:p>
          <a:p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Errors: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measure the distance between each observation and the predicted value for that observation.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47412-CBFA-DA73-915B-E74204166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702" y="1032974"/>
            <a:ext cx="5479330" cy="2640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5986A4-FC58-2B08-DF6B-EC64FFFD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4136786"/>
            <a:ext cx="6012324" cy="21141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C1D88-4F5A-C1DF-D1C4-11D9B4B06BA5}"/>
              </a:ext>
            </a:extLst>
          </p:cNvPr>
          <p:cNvSpPr txBox="1"/>
          <p:nvPr/>
        </p:nvSpPr>
        <p:spPr>
          <a:xfrm>
            <a:off x="8316006" y="6250897"/>
            <a:ext cx="1948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Error/Residual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242450-156C-9942-E006-2331D09B8452}"/>
              </a:ext>
            </a:extLst>
          </p:cNvPr>
          <p:cNvCxnSpPr/>
          <p:nvPr/>
        </p:nvCxnSpPr>
        <p:spPr>
          <a:xfrm>
            <a:off x="5126636" y="4136786"/>
            <a:ext cx="969364" cy="4502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874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1083D5-B7AF-045F-7EAB-FD1411E3B290}"/>
              </a:ext>
            </a:extLst>
          </p:cNvPr>
          <p:cNvSpPr txBox="1"/>
          <p:nvPr/>
        </p:nvSpPr>
        <p:spPr>
          <a:xfrm>
            <a:off x="280636" y="1488813"/>
            <a:ext cx="634895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 of linear regression is to find a regression line (line of best fit), 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line for which the sum of squares of the residuals is a minimum.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our problem, the best fit line is shown. There's still error, sure, but the general pattern is captured well. </a:t>
            </a:r>
          </a:p>
          <a:p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we can be reasonably confident that if we plug in new values of square-foot, our predicted values of price would be reasonably accurate.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75AB9-1D31-DE6E-BC70-6217AEB8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595" y="2254953"/>
            <a:ext cx="5517434" cy="268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8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1083D5-B7AF-045F-7EAB-FD1411E3B290}"/>
                  </a:ext>
                </a:extLst>
              </p:cNvPr>
              <p:cNvSpPr txBox="1"/>
              <p:nvPr/>
            </p:nvSpPr>
            <p:spPr>
              <a:xfrm>
                <a:off x="201743" y="1788616"/>
                <a:ext cx="6348959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Once we've fit our model, predicting future values is super easy! We just plug in any </a:t>
                </a:r>
                <a:r>
                  <a:rPr lang="en-US" sz="2400" b="0" i="1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1" baseline="-2500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values into our equation!</a:t>
                </a: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our simple model, that means plugging in a value for </a:t>
                </a:r>
                <a:r>
                  <a:rPr lang="en-US" sz="2400" b="0" i="1" dirty="0" err="1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sqft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into our model:</a:t>
                </a:r>
              </a:p>
              <a:p>
                <a:endParaRPr lang="en-US" sz="2400" dirty="0">
                  <a:solidFill>
                    <a:srgbClr val="232F3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 err="1">
                    <a:solidFill>
                      <a:srgbClr val="232F3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Sqft</a:t>
                </a:r>
                <a:r>
                  <a:rPr lang="en-US" sz="2400" b="1" dirty="0">
                    <a:solidFill>
                      <a:srgbClr val="232F3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346</a:t>
                </a:r>
              </a:p>
              <a:p>
                <a:endParaRPr lang="en-US" sz="2400" b="1" dirty="0">
                  <a:solidFill>
                    <a:srgbClr val="232F3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b="0" dirty="0">
                    <a:solidFill>
                      <a:srgbClr val="232F3E"/>
                    </a:solidFill>
                    <a:effectLst/>
                    <a:latin typeface="KaTeX_Main"/>
                  </a:rPr>
                  <a:t>​=756.9 ∗ 346 − 27153.8</a:t>
                </a:r>
                <a:br>
                  <a:rPr lang="es-ES" sz="2400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400" b="0" dirty="0">
                    <a:solidFill>
                      <a:srgbClr val="232F3E"/>
                    </a:solidFill>
                    <a:effectLst/>
                    <a:latin typeface="KaTeX_Main"/>
                  </a:rPr>
                  <a:t>=234734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1083D5-B7AF-045F-7EAB-FD1411E3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43" y="1788616"/>
                <a:ext cx="6348959" cy="4154984"/>
              </a:xfrm>
              <a:prstGeom prst="rect">
                <a:avLst/>
              </a:prstGeom>
              <a:blipFill>
                <a:blip r:embed="rId2"/>
                <a:stretch>
                  <a:fillRect l="-1440" t="-1173" r="-2015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542A4B5-39E6-D2FB-47CE-3134BB49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52" y="2066734"/>
            <a:ext cx="5697103" cy="290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58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Model Evaluation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1083D5-B7AF-045F-7EAB-FD1411E3B290}"/>
                  </a:ext>
                </a:extLst>
              </p:cNvPr>
              <p:cNvSpPr txBox="1"/>
              <p:nvPr/>
            </p:nvSpPr>
            <p:spPr>
              <a:xfrm>
                <a:off x="876300" y="1325563"/>
                <a:ext cx="10276382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train an accurate linear regression model, we need a way to quantify how good (or bad) our model performs. In ML, we call such performance-measuring functions </a:t>
                </a:r>
                <a:r>
                  <a:rPr lang="en-US" sz="2400" b="1" i="1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functions</a:t>
                </a:r>
                <a:r>
                  <a:rPr lang="en-US" sz="2400" b="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en-US" sz="2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opular loss functions for regression problems:</a:t>
                </a:r>
              </a:p>
              <a:p>
                <a:r>
                  <a:rPr lang="en-US" sz="2400" b="1" dirty="0">
                    <a:solidFill>
                      <a:srgbClr val="232F3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Sum of squared error (SSE)</a:t>
                </a:r>
                <a:r>
                  <a:rPr lang="en-US" sz="2400" b="1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40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total squared difference between observed data (</a:t>
                </a:r>
                <a:r>
                  <a:rPr lang="en-US" sz="2400" i="0" dirty="0" err="1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i="0" baseline="-25000" dirty="0" err="1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model’s predictions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b="0" i="1" kern="100" baseline="-250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sz="2400" i="0" dirty="0">
                    <a:solidFill>
                      <a:srgbClr val="232F3E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1083D5-B7AF-045F-7EAB-FD1411E3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" y="1325563"/>
                <a:ext cx="10276382" cy="2677656"/>
              </a:xfrm>
              <a:prstGeom prst="rect">
                <a:avLst/>
              </a:prstGeom>
              <a:blipFill>
                <a:blip r:embed="rId2"/>
                <a:stretch>
                  <a:fillRect l="-949" t="-1818" r="-534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2F6E1FF-15F1-A1E0-E331-2C1F8A44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87" y="4003219"/>
            <a:ext cx="3860460" cy="1524882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70986103-B215-563E-7363-18E61472D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5528101"/>
            <a:ext cx="1014548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Least Square method is a mathematical technique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to find the best-fitting line (or model)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minimizing the sum of squared errors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40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Model Evaluation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1083D5-B7AF-045F-7EAB-FD1411E3B290}"/>
              </a:ext>
            </a:extLst>
          </p:cNvPr>
          <p:cNvSpPr txBox="1"/>
          <p:nvPr/>
        </p:nvSpPr>
        <p:spPr>
          <a:xfrm>
            <a:off x="876300" y="1235623"/>
            <a:ext cx="1027638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i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opular loss functions for regression problems:</a:t>
            </a:r>
          </a:p>
          <a:p>
            <a:endParaRPr lang="en-US" sz="2400" b="1" i="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Mean-Squared Error (MSE)</a:t>
            </a:r>
            <a:r>
              <a:rPr lang="en-US" sz="2400" b="1" i="0" dirty="0">
                <a:solidFill>
                  <a:srgbClr val="232F3E"/>
                </a:solidFill>
                <a:effectLst/>
                <a:latin typeface="Amazon Ember Display Heavy"/>
              </a:rPr>
              <a:t> : 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uantifies how close a predicted value is to the true value.</a:t>
            </a:r>
          </a:p>
          <a:p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i="0" dirty="0">
              <a:solidFill>
                <a:srgbClr val="232F3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Normalized version of 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squaring of errors prevents negative and positive terms from canceling out in the sum.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Penalizes large errors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than small ones (due to squaring) - by</a:t>
            </a:r>
            <a:r>
              <a:rPr lang="en-US" sz="2400" b="0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giving more weight to points further from the regression line (i.e., punishing outliers)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Differentiable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D4909-C339-2D76-23A3-98B71B05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41" y="2788170"/>
            <a:ext cx="4031782" cy="105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6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Model Evaluation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1083D5-B7AF-045F-7EAB-FD1411E3B290}"/>
              </a:ext>
            </a:extLst>
          </p:cNvPr>
          <p:cNvSpPr txBox="1"/>
          <p:nvPr/>
        </p:nvSpPr>
        <p:spPr>
          <a:xfrm>
            <a:off x="876300" y="1325563"/>
            <a:ext cx="1027638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i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opular loss functions for regression problems:</a:t>
            </a:r>
          </a:p>
          <a:p>
            <a:endParaRPr lang="en-US" sz="2400" b="1" i="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232F3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R-Squared (goodness-of-fit measure) : 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 how well a model fits a set of data. It represents the percentage of the variance in </a:t>
            </a:r>
            <a:r>
              <a:rPr lang="en-US" sz="2400" b="1" i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explained by our features </a:t>
            </a:r>
            <a:r>
              <a:rPr lang="en-US" sz="2400" b="1" i="1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dirty="0">
              <a:solidFill>
                <a:srgbClr val="232F3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it measures the percentage of variance explained normalized against the baseline variance of our model (which is just the variance of the mean).</a:t>
            </a:r>
          </a:p>
          <a:p>
            <a:endParaRPr lang="en-US" sz="2400" dirty="0">
              <a:solidFill>
                <a:srgbClr val="232F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possible value for r-squared is 1, representing a model that captures 100% of the variance. A negative r-squared means that our model is doing worse (capturing less variance) than a flat line through mean of our data would.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E8D7B-4A52-0721-BC59-29B338739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334" y="2991627"/>
            <a:ext cx="3690322" cy="111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33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Demo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1083D5-B7AF-045F-7EAB-FD1411E3B290}"/>
              </a:ext>
            </a:extLst>
          </p:cNvPr>
          <p:cNvSpPr txBox="1"/>
          <p:nvPr/>
        </p:nvSpPr>
        <p:spPr>
          <a:xfrm>
            <a:off x="3484589" y="3319254"/>
            <a:ext cx="1027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32F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https://www.geogebra.org/m/FUe3HfRf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425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in finance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disease progression using biomarkers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536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09DEF52-9B59-357F-07A6-14702C7B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45" y="1173981"/>
            <a:ext cx="8064709" cy="55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37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241F030-7566-2C7C-08F8-43ECA3E4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022" y="1203476"/>
            <a:ext cx="7221955" cy="523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35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Simple Linear Regression: Solving by Hand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61CFB2-8DA7-5321-4636-0B278831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67778"/>
              </p:ext>
            </p:extLst>
          </p:nvPr>
        </p:nvGraphicFramePr>
        <p:xfrm>
          <a:off x="1668726" y="1399936"/>
          <a:ext cx="26934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706">
                  <a:extLst>
                    <a:ext uri="{9D8B030D-6E8A-4147-A177-3AD203B41FA5}">
                      <a16:colId xmlns:a16="http://schemas.microsoft.com/office/drawing/2014/main" val="3395029843"/>
                    </a:ext>
                  </a:extLst>
                </a:gridCol>
                <a:gridCol w="1346706">
                  <a:extLst>
                    <a:ext uri="{9D8B030D-6E8A-4147-A177-3AD203B41FA5}">
                      <a16:colId xmlns:a16="http://schemas.microsoft.com/office/drawing/2014/main" val="541228877"/>
                    </a:ext>
                  </a:extLst>
                </a:gridCol>
              </a:tblGrid>
              <a:tr h="4176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06089"/>
                  </a:ext>
                </a:extLst>
              </a:tr>
              <a:tr h="4176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522213"/>
                  </a:ext>
                </a:extLst>
              </a:tr>
              <a:tr h="4176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62488"/>
                  </a:ext>
                </a:extLst>
              </a:tr>
              <a:tr h="4176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23289"/>
                  </a:ext>
                </a:extLst>
              </a:tr>
              <a:tr h="4176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43504"/>
                  </a:ext>
                </a:extLst>
              </a:tr>
              <a:tr h="4176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2854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10D0E2-75BF-6154-37D8-B2D38B76B72D}"/>
              </a:ext>
            </a:extLst>
          </p:cNvPr>
          <p:cNvSpPr txBox="1"/>
          <p:nvPr/>
        </p:nvSpPr>
        <p:spPr>
          <a:xfrm>
            <a:off x="4974235" y="2068975"/>
            <a:ext cx="700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fit a line of form: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mx+c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BC7D7-2A8B-FDFE-19D5-5060E82A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677" y="4150755"/>
            <a:ext cx="3197952" cy="872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5503A-7575-0D3B-5B98-909C48A2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208" y="5386124"/>
            <a:ext cx="2371209" cy="872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27254-09D3-20DB-9C07-F8310D90C8F0}"/>
              </a:ext>
            </a:extLst>
          </p:cNvPr>
          <p:cNvSpPr txBox="1"/>
          <p:nvPr/>
        </p:nvSpPr>
        <p:spPr>
          <a:xfrm>
            <a:off x="1501873" y="4428501"/>
            <a:ext cx="76421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for calculating Slope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for calculating intercept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</a:p>
        </p:txBody>
      </p:sp>
    </p:spTree>
    <p:extLst>
      <p:ext uri="{BB962C8B-B14F-4D97-AF65-F5344CB8AC3E}">
        <p14:creationId xmlns:p14="http://schemas.microsoft.com/office/powerpoint/2010/main" val="1244221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E8AD81-DD82-EE2A-E8D7-0BB3644121DD}"/>
              </a:ext>
            </a:extLst>
          </p:cNvPr>
          <p:cNvSpPr/>
          <p:nvPr/>
        </p:nvSpPr>
        <p:spPr>
          <a:xfrm>
            <a:off x="4002374" y="5816184"/>
            <a:ext cx="2093626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Simple Linear Regression: Solving by Hand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61CFB2-8DA7-5321-4636-0B278831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0050"/>
              </p:ext>
            </p:extLst>
          </p:nvPr>
        </p:nvGraphicFramePr>
        <p:xfrm>
          <a:off x="1022394" y="1508722"/>
          <a:ext cx="4787068" cy="34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767">
                  <a:extLst>
                    <a:ext uri="{9D8B030D-6E8A-4147-A177-3AD203B41FA5}">
                      <a16:colId xmlns:a16="http://schemas.microsoft.com/office/drawing/2014/main" val="3395029843"/>
                    </a:ext>
                  </a:extLst>
                </a:gridCol>
                <a:gridCol w="1196767">
                  <a:extLst>
                    <a:ext uri="{9D8B030D-6E8A-4147-A177-3AD203B41FA5}">
                      <a16:colId xmlns:a16="http://schemas.microsoft.com/office/drawing/2014/main" val="541228877"/>
                    </a:ext>
                  </a:extLst>
                </a:gridCol>
                <a:gridCol w="1196767">
                  <a:extLst>
                    <a:ext uri="{9D8B030D-6E8A-4147-A177-3AD203B41FA5}">
                      <a16:colId xmlns:a16="http://schemas.microsoft.com/office/drawing/2014/main" val="998843667"/>
                    </a:ext>
                  </a:extLst>
                </a:gridCol>
                <a:gridCol w="1196767">
                  <a:extLst>
                    <a:ext uri="{9D8B030D-6E8A-4147-A177-3AD203B41FA5}">
                      <a16:colId xmlns:a16="http://schemas.microsoft.com/office/drawing/2014/main" val="13041156"/>
                    </a:ext>
                  </a:extLst>
                </a:gridCol>
              </a:tblGrid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06089"/>
                  </a:ext>
                </a:extLst>
              </a:tr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522213"/>
                  </a:ext>
                </a:extLst>
              </a:tr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62488"/>
                  </a:ext>
                </a:extLst>
              </a:tr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23289"/>
                  </a:ext>
                </a:extLst>
              </a:tr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43504"/>
                  </a:ext>
                </a:extLst>
              </a:tr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285441"/>
                  </a:ext>
                </a:extLst>
              </a:tr>
              <a:tr h="4937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7894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A071716-76D5-8A2B-8EE9-A42CAE268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347" y="2102309"/>
            <a:ext cx="5424648" cy="1582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71BB86-45FA-B811-5C54-C67DFC99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40" y="3958538"/>
            <a:ext cx="4787066" cy="15827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851624-7BA7-D9E9-9B51-6B881D7FA9DF}"/>
              </a:ext>
            </a:extLst>
          </p:cNvPr>
          <p:cNvSpPr txBox="1"/>
          <p:nvPr/>
        </p:nvSpPr>
        <p:spPr>
          <a:xfrm>
            <a:off x="6397737" y="1367136"/>
            <a:ext cx="4771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 in values in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25EF5-3577-32AA-6B1A-D68FD42FC287}"/>
              </a:ext>
            </a:extLst>
          </p:cNvPr>
          <p:cNvSpPr txBox="1"/>
          <p:nvPr/>
        </p:nvSpPr>
        <p:spPr>
          <a:xfrm>
            <a:off x="876300" y="5816184"/>
            <a:ext cx="588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regression line: 		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1.2x + 0.6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5A525-0B6E-1B3B-7EA3-03ED36A9FA6E}"/>
              </a:ext>
            </a:extLst>
          </p:cNvPr>
          <p:cNvSpPr txBox="1"/>
          <p:nvPr/>
        </p:nvSpPr>
        <p:spPr>
          <a:xfrm>
            <a:off x="489540" y="4475289"/>
            <a:ext cx="432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42127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Regression: Practice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An analyst is studying the relationship between hours studied (X) and exam scores (Y) among students. The data collected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Calculate the slope (m) and intercept (b) of the regression line and interpret their meanings.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D39B31F-221A-4EE5-E9C0-CA98D418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024" y="2554537"/>
            <a:ext cx="4588605" cy="249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74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4114</TotalTime>
  <Words>1428</Words>
  <Application>Microsoft Office PowerPoint</Application>
  <PresentationFormat>Widescreen</PresentationFormat>
  <Paragraphs>192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Amazon Ember Display Heavy</vt:lpstr>
      <vt:lpstr>Aptos</vt:lpstr>
      <vt:lpstr>Arial</vt:lpstr>
      <vt:lpstr>Calibri</vt:lpstr>
      <vt:lpstr>Calibri Light</vt:lpstr>
      <vt:lpstr>Cambria Math</vt:lpstr>
      <vt:lpstr>KaTeX_Main</vt:lpstr>
      <vt:lpstr>Monotype Corsiva</vt:lpstr>
      <vt:lpstr>Times New Roman</vt:lpstr>
      <vt:lpstr>Office 2013 - 2022 Theme</vt:lpstr>
      <vt:lpstr>PowerPoint Presentation</vt:lpstr>
      <vt:lpstr>Linear Regression: Introduction</vt:lpstr>
      <vt:lpstr>Linear Regression: Introduction</vt:lpstr>
      <vt:lpstr>Linear Regression</vt:lpstr>
      <vt:lpstr>Linear Regression</vt:lpstr>
      <vt:lpstr>Linear Regression</vt:lpstr>
      <vt:lpstr>Linear Regression</vt:lpstr>
      <vt:lpstr>Linear Regression: Introduction</vt:lpstr>
      <vt:lpstr>Linear Regression: Introduction</vt:lpstr>
      <vt:lpstr>Linear Regression: Introduction</vt:lpstr>
      <vt:lpstr>Linear Regression: </vt:lpstr>
      <vt:lpstr>Linear Regression: </vt:lpstr>
      <vt:lpstr>Linear Regression: </vt:lpstr>
      <vt:lpstr>Linear Regression: </vt:lpstr>
      <vt:lpstr>Linear Regression: Model Evaluation</vt:lpstr>
      <vt:lpstr>Linear Regression: Model Evaluation</vt:lpstr>
      <vt:lpstr>Linear Regression: Model Evaluation</vt:lpstr>
      <vt:lpstr>Linear Regression: Demo</vt:lpstr>
      <vt:lpstr>Linear Regression: Applications</vt:lpstr>
      <vt:lpstr>Linear Regression: Example</vt:lpstr>
      <vt:lpstr>Linear Regression: Example</vt:lpstr>
      <vt:lpstr>Simple Linear Regression: Solving by Hand</vt:lpstr>
      <vt:lpstr>Simple Linear Regression: Solving by Hand</vt:lpstr>
      <vt:lpstr>Linear Regression: Practice Problem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2025-07-31T04:12:49Z</dcterms:modified>
</cp:coreProperties>
</file>